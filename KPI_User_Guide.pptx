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5"/>
    <p:sldId id="260" r:id="rId6"/>
    <p:sldId id="262" r:id="rId7"/>
    <p:sldId id="263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4"/>
    <p:restoredTop sz="94676"/>
  </p:normalViewPr>
  <p:slideViewPr>
    <p:cSldViewPr snapToGrid="0" snapToObjects="1">
      <p:cViewPr varScale="1">
        <p:scale>
          <a:sx n="152" d="100"/>
          <a:sy n="152" d="100"/>
        </p:scale>
        <p:origin x="14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KPI Data Generator User Guide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AAC KPI Team | Office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199" y="934947"/>
            <a:ext cx="759773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3200" b="1" dirty="0"/>
              <a:t>Agenda</a:t>
            </a:r>
            <a:endParaRPr lang="en-SG" sz="3200" dirty="0"/>
          </a:p>
          <a:p>
            <a:pPr>
              <a:buFont typeface="+mj-lt"/>
              <a:buAutoNum type="arabicPeriod"/>
            </a:pPr>
            <a:r>
              <a:rPr lang="en-SG" sz="3200" dirty="0"/>
              <a:t>Overview of the KPI Data Generator</a:t>
            </a:r>
          </a:p>
          <a:p>
            <a:pPr>
              <a:buFont typeface="+mj-lt"/>
              <a:buAutoNum type="arabicPeriod"/>
            </a:pPr>
            <a:r>
              <a:rPr lang="en-SG" sz="3200" dirty="0"/>
              <a:t>Responsibilities of Each Tab</a:t>
            </a:r>
          </a:p>
          <a:p>
            <a:pPr>
              <a:buFont typeface="+mj-lt"/>
              <a:buAutoNum type="arabicPeriod"/>
            </a:pPr>
            <a:r>
              <a:rPr lang="en-SG" sz="3200" dirty="0"/>
              <a:t>End-to-End Data Flow and Core Logic</a:t>
            </a:r>
          </a:p>
          <a:p>
            <a:pPr>
              <a:buFont typeface="+mj-lt"/>
              <a:buAutoNum type="arabicPeriod"/>
            </a:pPr>
            <a:r>
              <a:rPr lang="en-SG" sz="3200" dirty="0"/>
              <a:t>Export Pipelines and Validation Steps</a:t>
            </a:r>
          </a:p>
          <a:p>
            <a:pPr>
              <a:buFont typeface="+mj-lt"/>
              <a:buAutoNum type="arabicPeriod"/>
            </a:pPr>
            <a:r>
              <a:rPr lang="en-SG" sz="3200" dirty="0"/>
              <a:t>Recommendations and Next Actions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72264" y="513512"/>
            <a:ext cx="8358028" cy="2400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Overview</a:t>
            </a:r>
          </a:p>
          <a:p>
            <a:r>
              <a:rPr lang="en-SG" dirty="0"/>
              <a:t>• The tool mixes dummy data generation with Excel uploads so KPI inputs stay consistent and structured.</a:t>
            </a:r>
          </a:p>
          <a:p>
            <a:r>
              <a:rPr lang="en-SG" dirty="0"/>
              <a:t>• Built-in checks ensure IDs, dates, and formats stay valid before anything moves downstream.</a:t>
            </a:r>
          </a:p>
          <a:p>
            <a:r>
              <a:rPr lang="en-SG" dirty="0"/>
              <a:t>• Both JSON and CSV exports are produced so other systems can consume the data without extra </a:t>
            </a:r>
            <a:r>
              <a:rPr lang="en-SG" dirty="0" err="1"/>
              <a:t>cleanup</a:t>
            </a:r>
            <a:r>
              <a:rPr lang="en-SG" dirty="0"/>
              <a:t>.</a:t>
            </a:r>
          </a:p>
          <a:p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07361D6-74FB-326D-28B6-8CCB9DC3CFCE}"/>
              </a:ext>
            </a:extLst>
          </p:cNvPr>
          <p:cNvSpPr txBox="1"/>
          <p:nvPr/>
        </p:nvSpPr>
        <p:spPr>
          <a:xfrm>
            <a:off x="272264" y="2517168"/>
            <a:ext cx="8614881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/>
              <a:t>Tab Responsibilities</a:t>
            </a:r>
          </a:p>
          <a:p>
            <a:r>
              <a:rPr lang="en-SG" b="1" dirty="0"/>
              <a:t>• Patient Master</a:t>
            </a:r>
            <a:r>
              <a:rPr lang="en-SG" dirty="0"/>
              <a:t> – Captures demographics, KPI category, and the list of event sessions each patient attended.</a:t>
            </a:r>
          </a:p>
          <a:p>
            <a:r>
              <a:rPr lang="en-SG" b="1" dirty="0"/>
              <a:t>• Event Session</a:t>
            </a:r>
            <a:r>
              <a:rPr lang="en-SG" dirty="0"/>
              <a:t> – Holds the schedule and setup for each session—timing, mode, venue, and which patients were present.</a:t>
            </a:r>
          </a:p>
          <a:p>
            <a:r>
              <a:rPr lang="en-SG" b="1" dirty="0"/>
              <a:t>• Practitioner Master</a:t>
            </a:r>
            <a:r>
              <a:rPr lang="en-SG" dirty="0"/>
              <a:t> – Stores volunteer information pulled from Master Data and links it to the correct AAC.</a:t>
            </a:r>
          </a:p>
          <a:p>
            <a:r>
              <a:rPr lang="en-SG" b="1" dirty="0"/>
              <a:t>• Encounter Master</a:t>
            </a:r>
            <a:r>
              <a:rPr lang="en-SG" dirty="0"/>
              <a:t> – Logs every patient contact, with proper timestamps, status, and purpose of contact.</a:t>
            </a:r>
          </a:p>
          <a:p>
            <a:r>
              <a:rPr lang="en-SG" b="1" dirty="0"/>
              <a:t>• </a:t>
            </a:r>
            <a:r>
              <a:rPr lang="en-SG" b="1" dirty="0" err="1"/>
              <a:t>QuestionnaireResponse</a:t>
            </a:r>
            <a:r>
              <a:rPr lang="en-SG" b="1" dirty="0"/>
              <a:t> Master</a:t>
            </a:r>
            <a:r>
              <a:rPr lang="en-SG" dirty="0"/>
              <a:t> – Keeps questionnaire entries and scored answers for each patient across multiple dates.</a:t>
            </a:r>
          </a:p>
          <a:p>
            <a:endParaRPr lang="en-SG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416961B-C81E-481A-6D93-A7995CFCAE15}"/>
              </a:ext>
            </a:extLst>
          </p:cNvPr>
          <p:cNvSpPr txBox="1"/>
          <p:nvPr/>
        </p:nvSpPr>
        <p:spPr>
          <a:xfrm>
            <a:off x="226503" y="293615"/>
            <a:ext cx="848126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b="1" dirty="0"/>
              <a:t>• Common</a:t>
            </a:r>
            <a:r>
              <a:rPr lang="en-SG" dirty="0"/>
              <a:t> – The central aggregator; pulls data from all masters to prepare the final payloads and reporting blocks.</a:t>
            </a:r>
          </a:p>
          <a:p>
            <a:r>
              <a:rPr lang="en-SG" b="1" dirty="0"/>
              <a:t>• KPI JSON</a:t>
            </a:r>
            <a:r>
              <a:rPr lang="en-SG" dirty="0"/>
              <a:t> – Converts the current workbook into the required JSON structure using the external formatter.</a:t>
            </a:r>
          </a:p>
          <a:p>
            <a:r>
              <a:rPr lang="en-SG" b="1" dirty="0"/>
              <a:t>• JSON → CSV</a:t>
            </a:r>
            <a:r>
              <a:rPr lang="en-SG" dirty="0"/>
              <a:t> – Takes the exported JSON and flattens it into AAC_ID-based resource rows for submission pipelines.</a:t>
            </a:r>
          </a:p>
          <a:p>
            <a:r>
              <a:rPr lang="en-SG" b="1" dirty="0"/>
              <a:t>• Master Data</a:t>
            </a:r>
            <a:r>
              <a:rPr lang="en-SG" dirty="0"/>
              <a:t> – A read-only source file that supplies validated volunteer information into the Practitioner Master.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250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813" y="277401"/>
            <a:ext cx="799843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/>
              <a:t>1. Input &amp; Generation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Uploaded Excel files are read into observable lists via </a:t>
            </a:r>
            <a:r>
              <a:rPr lang="en-SG" sz="2400" dirty="0" err="1"/>
              <a:t>ExcelReader</a:t>
            </a:r>
            <a:r>
              <a:rPr lang="en-SG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Random generators (</a:t>
            </a:r>
            <a:r>
              <a:rPr lang="en-SG" sz="2400" dirty="0" err="1"/>
              <a:t>RandomDataUtil</a:t>
            </a:r>
            <a:r>
              <a:rPr lang="en-SG" sz="2400" dirty="0"/>
              <a:t>, </a:t>
            </a:r>
            <a:r>
              <a:rPr lang="en-SG" sz="2400" dirty="0" err="1"/>
              <a:t>NRICGeneratorUtil</a:t>
            </a:r>
            <a:r>
              <a:rPr lang="en-SG" sz="2400" dirty="0"/>
              <a:t>) create dummy Patients, Events, Encounters, Practitioners, and Questionnaire records based on user-selected counts.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 err="1"/>
              <a:t>MasterDataService</a:t>
            </a:r>
            <a:r>
              <a:rPr lang="en-SG" sz="2400" dirty="0"/>
              <a:t> seeds volunteer data and auto-copies it into the Practitioner Master.</a:t>
            </a:r>
          </a:p>
          <a:p>
            <a:r>
              <a:rPr lang="en-SG" sz="2400" b="1" dirty="0"/>
              <a:t>2. Linking &amp; Relationships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 err="1"/>
              <a:t>LinkService</a:t>
            </a:r>
            <a:r>
              <a:rPr lang="en-SG" sz="2400" dirty="0"/>
              <a:t> matches Patients with Event Sessions, producing each resident’s </a:t>
            </a:r>
            <a:r>
              <a:rPr lang="en-SG" sz="2400" dirty="0" err="1"/>
              <a:t>attended_event_references</a:t>
            </a:r>
            <a:r>
              <a:rPr lang="en-SG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Encounter Master links each patient to the required number of encounters based on KPI rules (e.g., ≥12 for Budding, ≥52 for Befriending).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 err="1"/>
              <a:t>QuestionnaireResponse</a:t>
            </a:r>
            <a:r>
              <a:rPr lang="en-SG" sz="2400" dirty="0"/>
              <a:t> Master links each patient to questionnaire entries with valid dates and answer ranges.</a:t>
            </a:r>
          </a:p>
          <a:p>
            <a:endParaRPr lang="en-SG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813" y="277401"/>
            <a:ext cx="7998432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/>
              <a:t>3. Common Sheet Construction (</a:t>
            </a:r>
            <a:r>
              <a:rPr lang="en-SG" sz="2400" b="1" dirty="0" err="1"/>
              <a:t>CommonBuilderService</a:t>
            </a:r>
            <a:r>
              <a:rPr lang="en-SG" sz="2400" b="1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AAC Report:</a:t>
            </a:r>
            <a:r>
              <a:rPr lang="en-SG" sz="2400" dirty="0"/>
              <a:t> Creates one row per AAC centre, attaches volunteer references, and sets reporting metadata.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Organisation Report:</a:t>
            </a:r>
            <a:r>
              <a:rPr lang="en-SG" sz="2400" dirty="0"/>
              <a:t> Maps each AAC to its Organisation ID, UEN, active flag, and organisation type.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Location Report:</a:t>
            </a:r>
            <a:r>
              <a:rPr lang="en-SG" sz="2400" dirty="0"/>
              <a:t> Lists all postal-code locations for each organisation and ties them back via </a:t>
            </a:r>
            <a:r>
              <a:rPr lang="en-SG" sz="2400" dirty="0" err="1"/>
              <a:t>org_id</a:t>
            </a:r>
            <a:r>
              <a:rPr lang="en-SG" sz="24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Resident Report:</a:t>
            </a:r>
            <a:r>
              <a:rPr lang="en-SG" sz="2400" dirty="0"/>
              <a:t> Generates one row per resident with demographics, CFS, social-risk labels, encounter references, event references, and questionnaire references.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Event Report:</a:t>
            </a:r>
            <a:r>
              <a:rPr lang="en-SG" sz="2400" dirty="0"/>
              <a:t> Produces event-level metadata including mode, duration, capacity, required sessions, and patient attendance flags.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Encounter Report:</a:t>
            </a:r>
            <a:r>
              <a:rPr lang="en-SG" sz="2400" dirty="0"/>
              <a:t> Copies all encounter rows with timestamps and purpose-of-contact logic.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Questionnaire Report:</a:t>
            </a:r>
            <a:r>
              <a:rPr lang="en-SG" sz="2400" dirty="0"/>
              <a:t> Includes all questionnaire responses linked to residents, with answer ranges and valid dates.</a:t>
            </a:r>
          </a:p>
        </p:txBody>
      </p:sp>
    </p:spTree>
    <p:extLst>
      <p:ext uri="{BB962C8B-B14F-4D97-AF65-F5344CB8AC3E}">
        <p14:creationId xmlns:p14="http://schemas.microsoft.com/office/powerpoint/2010/main" val="1738452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92813" y="277401"/>
            <a:ext cx="7998432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400" b="1" dirty="0"/>
              <a:t>4. Validation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Every linking step verifies: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Patient IDs exist across sheets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Event and encounter references are correct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Questionnaire references point to real questionnaire rows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No duplicates or invalid formats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IDs and timestamps follow the expected patterns</a:t>
            </a:r>
          </a:p>
          <a:p>
            <a:endParaRPr lang="en-SG" sz="2400" dirty="0"/>
          </a:p>
          <a:p>
            <a:r>
              <a:rPr lang="en-SG" sz="2400" b="1" dirty="0"/>
              <a:t>5. Final Output Assembly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 err="1"/>
              <a:t>CommonBuilderService</a:t>
            </a:r>
            <a:r>
              <a:rPr lang="en-SG" sz="2400" dirty="0"/>
              <a:t> merges all blocks into a single </a:t>
            </a:r>
            <a:r>
              <a:rPr lang="en-SG" sz="2400" b="1" dirty="0"/>
              <a:t>Common</a:t>
            </a:r>
            <a:r>
              <a:rPr lang="en-SG" sz="2400" dirty="0"/>
              <a:t> sheet in the correct MOH structure.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This unified sheet directly feeds: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JSON Export</a:t>
            </a:r>
            <a:r>
              <a:rPr lang="en-SG" sz="2400" dirty="0"/>
              <a:t> (via external converter JAR)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b="1" dirty="0"/>
              <a:t>CSV Flattening</a:t>
            </a:r>
            <a:r>
              <a:rPr lang="en-SG" sz="2400" dirty="0"/>
              <a:t> (AAC_ID → resources)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SG" sz="2400" dirty="0"/>
              <a:t>Downstream QA, test data generation, or system integration.</a:t>
            </a:r>
          </a:p>
          <a:p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10474545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629</Words>
  <Application>Microsoft Macintosh PowerPoint</Application>
  <PresentationFormat>On-screen Show (4:3)</PresentationFormat>
  <Paragraphs>52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KPI Data Generator User Guide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KPI Data Generator User Guide</dc:title>
  <dc:subject/>
  <dc:creator/>
  <cp:keywords/>
  <dc:description>generated using python-pptx</dc:description>
  <cp:lastModifiedBy>Mahesh R</cp:lastModifiedBy>
  <cp:revision>6</cp:revision>
  <dcterms:created xsi:type="dcterms:W3CDTF">2013-01-27T09:14:16Z</dcterms:created>
  <dcterms:modified xsi:type="dcterms:W3CDTF">2025-11-13T08:24:48Z</dcterms:modified>
  <cp:category/>
</cp:coreProperties>
</file>